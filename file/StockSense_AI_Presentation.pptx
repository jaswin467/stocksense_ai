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70408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8580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StockSense AI  |  Jaswin  |  24CB019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7040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StockSense AI: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Intelligent Retail Demand Forecasting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Solving Understocking and Overstocking with Time-Aware Machine Learning</a:t>
            </a:r>
            <a:endParaRPr lang="en-US" sz="1600" dirty="0"/>
          </a:p>
        </p:txBody>
      </p:sp>
      <p:sp>
        <p:nvSpPr>
          <p:cNvPr id="4" name="Presenter card"/>
          <p:cNvSpPr/>
          <p:nvPr/>
        </p:nvSpPr>
        <p:spPr>
          <a:xfrm>
            <a:off x="731520" y="4846320"/>
            <a:ext cx="4023360" cy="1143000"/>
          </a:xfrm>
          <a:prstGeom prst="roundRect">
            <a:avLst>
              <a:gd name="adj" fmla="val 8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txBody>
          <a:bodyPr wrap="square" lIns="228600" tIns="228600" rIns="228600" bIns="2286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</a:rPr>
              <a:t>Jaswin</a:t>
            </a:r>
            <a:endParaRPr lang="en-US" sz="2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Roll No: 24CB019</a:t>
            </a:r>
            <a:endParaRPr lang="en-US" sz="2600" dirty="0"/>
          </a:p>
        </p:txBody>
      </p:sp>
      <p:sp>
        <p:nvSpPr>
          <p:cNvPr id="5" name="Ring"/>
          <p:cNvSpPr/>
          <p:nvPr/>
        </p:nvSpPr>
        <p:spPr>
          <a:xfrm>
            <a:off x="7772400" y="1371600"/>
            <a:ext cx="3840480" cy="3840480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6" name="Main circle"/>
          <p:cNvSpPr/>
          <p:nvPr/>
        </p:nvSpPr>
        <p:spPr>
          <a:xfrm>
            <a:off x="8229600" y="1828800"/>
            <a:ext cx="2926080" cy="2926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7" name="Image 0" descr="Forecast char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560320"/>
            <a:ext cx="1463040" cy="1463040"/>
          </a:xfrm>
          <a:prstGeom prst="rect">
            <a:avLst/>
          </a:prstGeom>
        </p:spPr>
      </p:pic>
      <p:sp>
        <p:nvSpPr>
          <p:cNvPr id="8" name="Stock circle"/>
          <p:cNvSpPr/>
          <p:nvPr/>
        </p:nvSpPr>
        <p:spPr>
          <a:xfrm>
            <a:off x="7589520" y="4434840"/>
            <a:ext cx="1097280" cy="10972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2"/>
            </a:solidFill>
            <a:prstDash val="solid"/>
          </a:ln>
        </p:spPr>
      </p:sp>
      <p:pic>
        <p:nvPicPr>
          <p:cNvPr id="9" name="Image 1" descr="Inventory box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4754880"/>
            <a:ext cx="457200" cy="457200"/>
          </a:xfrm>
          <a:prstGeom prst="rect">
            <a:avLst/>
          </a:prstGeom>
        </p:spPr>
      </p:pic>
      <p:sp>
        <p:nvSpPr>
          <p:cNvPr id="10" name="Warehouse circle"/>
          <p:cNvSpPr/>
          <p:nvPr/>
        </p:nvSpPr>
        <p:spPr>
          <a:xfrm>
            <a:off x="10561320" y="1051560"/>
            <a:ext cx="914400" cy="91440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tx2"/>
            </a:solidFill>
            <a:prstDash val="solid"/>
          </a:ln>
        </p:spPr>
      </p:sp>
      <p:pic>
        <p:nvPicPr>
          <p:cNvPr id="11" name="Image 2" descr="Warehou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1298448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 &amp; Objectives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Solving Understocking and Overstocking with Time-Aware Machine Learning</a:t>
            </a:r>
            <a:endParaRPr lang="en-US" sz="1600" dirty="0"/>
          </a:p>
        </p:txBody>
      </p:sp>
      <p:sp>
        <p:nvSpPr>
          <p:cNvPr id="4" name="Understocking card"/>
          <p:cNvSpPr/>
          <p:nvPr/>
        </p:nvSpPr>
        <p:spPr>
          <a:xfrm>
            <a:off x="548640" y="1463040"/>
            <a:ext cx="3383280" cy="2240280"/>
          </a:xfrm>
          <a:prstGeom prst="roundRect">
            <a:avLst>
              <a:gd name="adj" fmla="val 4082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40000"/>
              </a:schemeClr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Understocking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 (Stockouts)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Shelves run empty → lost sales revenue and customers switch to competitors.</a:t>
            </a:r>
            <a:endParaRPr lang="en-US" sz="20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Empty shelves</a:t>
            </a:r>
            <a:endParaRPr lang="en-US" sz="20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Lost sales revenue</a:t>
            </a:r>
            <a:endParaRPr lang="en-US" sz="20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Unhappy customers</a:t>
            </a:r>
            <a:endParaRPr lang="en-US" sz="2000" dirty="0"/>
          </a:p>
        </p:txBody>
      </p:sp>
      <p:sp>
        <p:nvSpPr>
          <p:cNvPr id="5" name="Overstocking card"/>
          <p:cNvSpPr/>
          <p:nvPr/>
        </p:nvSpPr>
        <p:spPr>
          <a:xfrm>
            <a:off x="4402836" y="1463040"/>
            <a:ext cx="3383280" cy="2240280"/>
          </a:xfrm>
          <a:prstGeom prst="roundRect">
            <a:avLst>
              <a:gd name="adj" fmla="val 4082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40000"/>
              </a:schemeClr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Overstocking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 (Excess Inventory)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Too many unsold goods → locked working capital, high warehouse costs, and product expiry.</a:t>
            </a:r>
            <a:endParaRPr lang="en-US" sz="20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 storage costs</a:t>
            </a:r>
            <a:endParaRPr lang="en-US" sz="20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Expired &amp; damaged goods</a:t>
            </a:r>
            <a:endParaRPr lang="en-US" sz="20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Cash locked in warehouse</a:t>
            </a:r>
            <a:endParaRPr lang="en-US" sz="2000" dirty="0"/>
          </a:p>
        </p:txBody>
      </p:sp>
      <p:sp>
        <p:nvSpPr>
          <p:cNvPr id="6" name="StockSense card"/>
          <p:cNvSpPr/>
          <p:nvPr/>
        </p:nvSpPr>
        <p:spPr>
          <a:xfrm>
            <a:off x="8257032" y="1463040"/>
            <a:ext cx="3383280" cy="224028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StockSense AI</a:t>
            </a:r>
            <a:endParaRPr lang="en-US" sz="20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ML-driven demand forecast</a:t>
            </a:r>
            <a:endParaRPr lang="en-US" sz="20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Dynamic safety stock buffer</a:t>
            </a:r>
            <a:endParaRPr lang="en-US" sz="20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Minimum inventory costs</a:t>
            </a:r>
            <a:endParaRPr lang="en-US" sz="2000" dirty="0"/>
          </a:p>
        </p:txBody>
      </p:sp>
      <p:sp>
        <p:nvSpPr>
          <p:cNvPr id="7" name="VS badge 1"/>
          <p:cNvSpPr/>
          <p:nvPr/>
        </p:nvSpPr>
        <p:spPr>
          <a:xfrm>
            <a:off x="3947922" y="2363724"/>
            <a:ext cx="438912" cy="43891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VS</a:t>
            </a:r>
            <a:endParaRPr lang="en-US" sz="1200" dirty="0"/>
          </a:p>
        </p:txBody>
      </p:sp>
      <p:sp>
        <p:nvSpPr>
          <p:cNvPr id="8" name="VS badge 2"/>
          <p:cNvSpPr/>
          <p:nvPr/>
        </p:nvSpPr>
        <p:spPr>
          <a:xfrm>
            <a:off x="7802118" y="2363724"/>
            <a:ext cx="438912" cy="43891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VS</a:t>
            </a:r>
            <a:endParaRPr lang="en-US" sz="1200" dirty="0"/>
          </a:p>
        </p:txBody>
      </p:sp>
      <p:sp>
        <p:nvSpPr>
          <p:cNvPr id="9" name="Traditional methods card"/>
          <p:cNvSpPr/>
          <p:nvPr/>
        </p:nvSpPr>
        <p:spPr>
          <a:xfrm>
            <a:off x="548640" y="3931920"/>
            <a:ext cx="448056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  <p:txBody>
          <a:bodyPr wrap="square" lIns="203200" tIns="203200" rIns="203200" bIns="203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Why Traditional Methods Fail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Spreadsheets and manual intuition cannot adapt to price changes, promotional discounts, weather shifts, or competitor pricing.</a:t>
            </a:r>
            <a:endParaRPr lang="en-US" sz="2000" dirty="0"/>
          </a:p>
        </p:txBody>
      </p:sp>
      <p:sp>
        <p:nvSpPr>
          <p:cNvPr id="10" name="Objectives card"/>
          <p:cNvSpPr/>
          <p:nvPr/>
        </p:nvSpPr>
        <p:spPr>
          <a:xfrm>
            <a:off x="5303520" y="3931920"/>
            <a:ext cx="6336792" cy="2423160"/>
          </a:xfrm>
          <a:prstGeom prst="roundRect">
            <a:avLst>
              <a:gd name="adj" fmla="val 3774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203200" tIns="203200" rIns="203200" bIns="203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StockSense AI Objectives</a:t>
            </a:r>
            <a:endParaRPr lang="en-US" sz="2000" dirty="0"/>
          </a:p>
        </p:txBody>
      </p:sp>
      <p:sp>
        <p:nvSpPr>
          <p:cNvPr id="11" name="Objective number 1"/>
          <p:cNvSpPr/>
          <p:nvPr/>
        </p:nvSpPr>
        <p:spPr>
          <a:xfrm>
            <a:off x="5486400" y="474573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Objective text 1"/>
          <p:cNvSpPr txBox="1"/>
          <p:nvPr/>
        </p:nvSpPr>
        <p:spPr>
          <a:xfrm>
            <a:off x="5989320" y="4663440"/>
            <a:ext cx="5468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Forecast Demand: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daily sales (Units Sold) using non-linear machine learning.</a:t>
            </a:r>
            <a:endParaRPr lang="en-US" sz="1400" dirty="0"/>
          </a:p>
        </p:txBody>
      </p:sp>
      <p:sp>
        <p:nvSpPr>
          <p:cNvPr id="13" name="Objective number 2"/>
          <p:cNvSpPr/>
          <p:nvPr/>
        </p:nvSpPr>
        <p:spPr>
          <a:xfrm>
            <a:off x="5486400" y="53126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Objective text 2"/>
          <p:cNvSpPr txBox="1"/>
          <p:nvPr/>
        </p:nvSpPr>
        <p:spPr>
          <a:xfrm>
            <a:off x="5989320" y="5230368"/>
            <a:ext cx="5468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Optimize Stock: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Calculate mathematical Safety Stock (SS) and Reorder Points (ROP).</a:t>
            </a:r>
            <a:endParaRPr lang="en-US" sz="1400" dirty="0"/>
          </a:p>
        </p:txBody>
      </p:sp>
      <p:sp>
        <p:nvSpPr>
          <p:cNvPr id="15" name="Objective number 3"/>
          <p:cNvSpPr/>
          <p:nvPr/>
        </p:nvSpPr>
        <p:spPr>
          <a:xfrm>
            <a:off x="5486400" y="58795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Objective text 3"/>
          <p:cNvSpPr txBox="1"/>
          <p:nvPr/>
        </p:nvSpPr>
        <p:spPr>
          <a:xfrm>
            <a:off x="5989320" y="5797296"/>
            <a:ext cx="5468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Actionable Dashboard: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Deliver real-time “What-If” simulations, automated CSV auditing, and PDF reports.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Architecture &amp; Data Preprocessing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Kaggle Retail Store Inventory Dataset (73,100 Records | 2022–2024)</a:t>
            </a:r>
            <a:endParaRPr lang="en-US" sz="1600" dirty="0"/>
          </a:p>
        </p:txBody>
      </p:sp>
      <p:sp>
        <p:nvSpPr>
          <p:cNvPr id="4" name="Stat 1"/>
          <p:cNvSpPr/>
          <p:nvPr/>
        </p:nvSpPr>
        <p:spPr>
          <a:xfrm>
            <a:off x="548640" y="14630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73,100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Daily records, Jan 2022 – Jan 2024</a:t>
            </a:r>
            <a:endParaRPr lang="en-US" sz="3200" dirty="0"/>
          </a:p>
        </p:txBody>
      </p:sp>
      <p:sp>
        <p:nvSpPr>
          <p:cNvPr id="5" name="Stat 2"/>
          <p:cNvSpPr/>
          <p:nvPr/>
        </p:nvSpPr>
        <p:spPr>
          <a:xfrm>
            <a:off x="3392424" y="14630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Stores (S001–S005) across 4 Regions</a:t>
            </a:r>
            <a:endParaRPr lang="en-US" sz="3200" dirty="0"/>
          </a:p>
        </p:txBody>
      </p:sp>
      <p:sp>
        <p:nvSpPr>
          <p:cNvPr id="6" name="Stat 3"/>
          <p:cNvSpPr/>
          <p:nvPr/>
        </p:nvSpPr>
        <p:spPr>
          <a:xfrm>
            <a:off x="6236208" y="14630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SKU time-series, 5 categories</a:t>
            </a:r>
            <a:endParaRPr lang="en-US" sz="3200" dirty="0"/>
          </a:p>
        </p:txBody>
      </p:sp>
      <p:sp>
        <p:nvSpPr>
          <p:cNvPr id="7" name="Stat 4"/>
          <p:cNvSpPr/>
          <p:nvPr/>
        </p:nvSpPr>
        <p:spPr>
          <a:xfrm>
            <a:off x="9079992" y="14630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Preprocessed input features</a:t>
            </a:r>
            <a:endParaRPr lang="en-US" sz="3200" dirty="0"/>
          </a:p>
        </p:txBody>
      </p:sp>
      <p:sp>
        <p:nvSpPr>
          <p:cNvPr id="8" name="Category note"/>
          <p:cNvSpPr txBox="1"/>
          <p:nvPr/>
        </p:nvSpPr>
        <p:spPr>
          <a:xfrm>
            <a:off x="548640" y="2679192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Categories: Groceries, Electronics, Clothing, Furniture, Toys</a:t>
            </a:r>
            <a:endParaRPr lang="en-US" sz="1200" dirty="0"/>
          </a:p>
        </p:txBody>
      </p:sp>
      <p:sp>
        <p:nvSpPr>
          <p:cNvPr id="9" name="Numerical features"/>
          <p:cNvSpPr/>
          <p:nvPr/>
        </p:nvSpPr>
        <p:spPr>
          <a:xfrm>
            <a:off x="548640" y="3017520"/>
            <a:ext cx="2926080" cy="1920240"/>
          </a:xfrm>
          <a:prstGeom prst="roundRect">
            <a:avLst>
              <a:gd name="adj" fmla="val 4762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Numerical (7)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Inventory Level, Unit Price, Promotional Discount (%), Competitor Pricing, Month, Day of Week, Day of Month</a:t>
            </a:r>
            <a:endParaRPr lang="en-US" sz="1800" dirty="0"/>
          </a:p>
        </p:txBody>
      </p:sp>
      <p:sp>
        <p:nvSpPr>
          <p:cNvPr id="10" name="Categorical features"/>
          <p:cNvSpPr/>
          <p:nvPr/>
        </p:nvSpPr>
        <p:spPr>
          <a:xfrm>
            <a:off x="3717036" y="3017520"/>
            <a:ext cx="2926080" cy="1920240"/>
          </a:xfrm>
          <a:prstGeom prst="roundRect">
            <a:avLst>
              <a:gd name="adj" fmla="val 4762"/>
            </a:avLst>
          </a:prstGeom>
          <a:solidFill>
            <a:schemeClr val="accent4">
              <a:alpha val="10000"/>
            </a:schemeClr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Categorical (7)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 ID, Product ID, Category, Region, Weather Condition, Holiday/Promotion flag, Seasonality</a:t>
            </a:r>
            <a:endParaRPr lang="en-US" sz="1800" dirty="0"/>
          </a:p>
        </p:txBody>
      </p:sp>
      <p:sp>
        <p:nvSpPr>
          <p:cNvPr id="11" name="Leakage card"/>
          <p:cNvSpPr/>
          <p:nvPr/>
        </p:nvSpPr>
        <p:spPr>
          <a:xfrm>
            <a:off x="6885432" y="3017520"/>
            <a:ext cx="4754880" cy="1920240"/>
          </a:xfrm>
          <a:prstGeom prst="roundRect">
            <a:avLst>
              <a:gd name="adj" fmla="val 4762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Zero Data Leakage Resolution</a:t>
            </a:r>
            <a:endParaRPr lang="en-US" sz="18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Excluded synthetic Demand Forecast and post-decision Units Ordered to ensure real-world validity.</a:t>
            </a:r>
            <a:endParaRPr lang="en-US" sz="18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Enforced a strict chronological 80/20 time split cut off at August 8, 2023 (Train: 58,400 rows | Test: 14,700 future rows).</a:t>
            </a:r>
            <a:endParaRPr lang="en-US" sz="1800" dirty="0"/>
          </a:p>
        </p:txBody>
      </p:sp>
      <p:sp>
        <p:nvSpPr>
          <p:cNvPr id="12" name="Pipeline step 1"/>
          <p:cNvSpPr/>
          <p:nvPr/>
        </p:nvSpPr>
        <p:spPr>
          <a:xfrm>
            <a:off x="548640" y="5212080"/>
            <a:ext cx="2286000" cy="1005840"/>
          </a:xfrm>
          <a:prstGeom prst="homePlat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Raw Dataset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73,100 rows</a:t>
            </a:r>
            <a:endParaRPr lang="en-US" sz="1400" dirty="0"/>
          </a:p>
        </p:txBody>
      </p:sp>
      <p:sp>
        <p:nvSpPr>
          <p:cNvPr id="13" name="Pipeline step 2"/>
          <p:cNvSpPr/>
          <p:nvPr/>
        </p:nvSpPr>
        <p:spPr>
          <a:xfrm>
            <a:off x="2750058" y="5212080"/>
            <a:ext cx="2286000" cy="1005840"/>
          </a:xfrm>
          <a:prstGeom prst="chevron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Audit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0 nulls</a:t>
            </a:r>
            <a:endParaRPr lang="en-US" sz="1400" dirty="0"/>
          </a:p>
        </p:txBody>
      </p:sp>
      <p:sp>
        <p:nvSpPr>
          <p:cNvPr id="14" name="Pipeline step 3"/>
          <p:cNvSpPr/>
          <p:nvPr/>
        </p:nvSpPr>
        <p:spPr>
          <a:xfrm>
            <a:off x="4951476" y="5212080"/>
            <a:ext cx="2286000" cy="1005840"/>
          </a:xfrm>
          <a:prstGeom prst="chevron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80/20 Split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Chronological</a:t>
            </a:r>
            <a:endParaRPr lang="en-US" sz="1400" dirty="0"/>
          </a:p>
        </p:txBody>
      </p:sp>
      <p:sp>
        <p:nvSpPr>
          <p:cNvPr id="15" name="Pipeline step 4"/>
          <p:cNvSpPr/>
          <p:nvPr/>
        </p:nvSpPr>
        <p:spPr>
          <a:xfrm>
            <a:off x="7152894" y="5212080"/>
            <a:ext cx="2286000" cy="1005840"/>
          </a:xfrm>
          <a:prstGeom prst="chevron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ColumnTransformer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Scale + encode</a:t>
            </a:r>
            <a:endParaRPr lang="en-US" sz="1400" dirty="0"/>
          </a:p>
        </p:txBody>
      </p:sp>
      <p:sp>
        <p:nvSpPr>
          <p:cNvPr id="16" name="Pipeline step 5"/>
          <p:cNvSpPr/>
          <p:nvPr/>
        </p:nvSpPr>
        <p:spPr>
          <a:xfrm>
            <a:off x="9354312" y="5212080"/>
            <a:ext cx="2286000" cy="1005840"/>
          </a:xfrm>
          <a:prstGeom prst="chevron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Clean Feature Matrix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Model-ready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 &amp; Operational Workflow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From Raw Retail Ingestion to Automated Replenishment Triggers</a:t>
            </a:r>
            <a:endParaRPr lang="en-US" sz="1600" dirty="0"/>
          </a:p>
        </p:txBody>
      </p:sp>
      <p:sp>
        <p:nvSpPr>
          <p:cNvPr id="4" name="Workflow card 1"/>
          <p:cNvSpPr/>
          <p:nvPr/>
        </p:nvSpPr>
        <p:spPr>
          <a:xfrm>
            <a:off x="548640" y="1463040"/>
            <a:ext cx="1962302" cy="260604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 w="635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5" name="Step number 1"/>
          <p:cNvSpPr/>
          <p:nvPr/>
        </p:nvSpPr>
        <p:spPr>
          <a:xfrm>
            <a:off x="713232" y="16276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Workflow text 1"/>
          <p:cNvSpPr txBox="1"/>
          <p:nvPr/>
        </p:nvSpPr>
        <p:spPr>
          <a:xfrm>
            <a:off x="640080" y="2148840"/>
            <a:ext cx="1779422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Ingestion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Ingests store, SKU, pricing, competitor, and inventory parameters.</a:t>
            </a:r>
            <a:endParaRPr lang="en-US" sz="1600" dirty="0"/>
          </a:p>
        </p:txBody>
      </p:sp>
      <p:sp>
        <p:nvSpPr>
          <p:cNvPr id="7" name="Flow arrow 1"/>
          <p:cNvSpPr/>
          <p:nvPr/>
        </p:nvSpPr>
        <p:spPr>
          <a:xfrm>
            <a:off x="2547518" y="2619756"/>
            <a:ext cx="246888" cy="292608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" name="Workflow card 2"/>
          <p:cNvSpPr/>
          <p:nvPr/>
        </p:nvSpPr>
        <p:spPr>
          <a:xfrm>
            <a:off x="2830982" y="1463040"/>
            <a:ext cx="1962302" cy="260604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 w="635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9" name="Step number 2"/>
          <p:cNvSpPr/>
          <p:nvPr/>
        </p:nvSpPr>
        <p:spPr>
          <a:xfrm>
            <a:off x="2995574" y="16276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Workflow text 2"/>
          <p:cNvSpPr txBox="1"/>
          <p:nvPr/>
        </p:nvSpPr>
        <p:spPr>
          <a:xfrm>
            <a:off x="2922422" y="2148840"/>
            <a:ext cx="1779422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Preprocessing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Normalizes numbers via StandardScaler and encodes categories via OneHotEncoder.</a:t>
            </a:r>
            <a:endParaRPr lang="en-US" sz="1600" dirty="0"/>
          </a:p>
        </p:txBody>
      </p:sp>
      <p:sp>
        <p:nvSpPr>
          <p:cNvPr id="11" name="Flow arrow 2"/>
          <p:cNvSpPr/>
          <p:nvPr/>
        </p:nvSpPr>
        <p:spPr>
          <a:xfrm>
            <a:off x="4829861" y="2619756"/>
            <a:ext cx="246888" cy="292608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Workflow card 3"/>
          <p:cNvSpPr/>
          <p:nvPr/>
        </p:nvSpPr>
        <p:spPr>
          <a:xfrm>
            <a:off x="5113325" y="1463040"/>
            <a:ext cx="1962302" cy="260604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 w="635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13" name="Step number 3"/>
          <p:cNvSpPr/>
          <p:nvPr/>
        </p:nvSpPr>
        <p:spPr>
          <a:xfrm>
            <a:off x="5277917" y="16276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Workflow text 3"/>
          <p:cNvSpPr txBox="1"/>
          <p:nvPr/>
        </p:nvSpPr>
        <p:spPr>
          <a:xfrm>
            <a:off x="5204765" y="2148840"/>
            <a:ext cx="1779422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ML Inference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LightGBM pipeline predicts next-day demand with 95% Confidence Intervals.</a:t>
            </a:r>
            <a:endParaRPr lang="en-US" sz="1600" dirty="0"/>
          </a:p>
        </p:txBody>
      </p:sp>
      <p:sp>
        <p:nvSpPr>
          <p:cNvPr id="15" name="Flow arrow 3"/>
          <p:cNvSpPr/>
          <p:nvPr/>
        </p:nvSpPr>
        <p:spPr>
          <a:xfrm>
            <a:off x="7112203" y="2619756"/>
            <a:ext cx="246888" cy="292608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6" name="Workflow card 4"/>
          <p:cNvSpPr/>
          <p:nvPr/>
        </p:nvSpPr>
        <p:spPr>
          <a:xfrm>
            <a:off x="7395667" y="1463040"/>
            <a:ext cx="1962302" cy="260604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 w="635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17" name="Step number 4"/>
          <p:cNvSpPr/>
          <p:nvPr/>
        </p:nvSpPr>
        <p:spPr>
          <a:xfrm>
            <a:off x="7560259" y="16276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Workflow text 4"/>
          <p:cNvSpPr txBox="1"/>
          <p:nvPr/>
        </p:nvSpPr>
        <p:spPr>
          <a:xfrm>
            <a:off x="7487107" y="2148840"/>
            <a:ext cx="1779422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Operations Engine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Computes Safety Stock, Reorder Point, and Stockout Risk %.</a:t>
            </a:r>
            <a:endParaRPr lang="en-US" sz="1600" dirty="0"/>
          </a:p>
        </p:txBody>
      </p:sp>
      <p:sp>
        <p:nvSpPr>
          <p:cNvPr id="19" name="Flow arrow 4"/>
          <p:cNvSpPr/>
          <p:nvPr/>
        </p:nvSpPr>
        <p:spPr>
          <a:xfrm>
            <a:off x="9394546" y="2619756"/>
            <a:ext cx="246888" cy="292608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0" name="Workflow card 5"/>
          <p:cNvSpPr/>
          <p:nvPr/>
        </p:nvSpPr>
        <p:spPr>
          <a:xfrm>
            <a:off x="9678010" y="1463040"/>
            <a:ext cx="1962302" cy="2606040"/>
          </a:xfrm>
          <a:prstGeom prst="roundRect">
            <a:avLst>
              <a:gd name="adj" fmla="val 4660"/>
            </a:avLst>
          </a:prstGeom>
          <a:solidFill>
            <a:schemeClr val="bg2"/>
          </a:solidFill>
          <a:ln w="635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21" name="Step number 5"/>
          <p:cNvSpPr/>
          <p:nvPr/>
        </p:nvSpPr>
        <p:spPr>
          <a:xfrm>
            <a:off x="9842602" y="16276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Workflow text 5"/>
          <p:cNvSpPr txBox="1"/>
          <p:nvPr/>
        </p:nvSpPr>
        <p:spPr>
          <a:xfrm>
            <a:off x="9769450" y="2148840"/>
            <a:ext cx="1779422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Interactive Dashboard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Displays live analytics, scenario simulations, and PDF exports.</a:t>
            </a:r>
            <a:endParaRPr lang="en-US" sz="1600" dirty="0"/>
          </a:p>
        </p:txBody>
      </p:sp>
      <p:sp>
        <p:nvSpPr>
          <p:cNvPr id="23" name="Stack heading"/>
          <p:cNvSpPr txBox="1"/>
          <p:nvPr/>
        </p:nvSpPr>
        <p:spPr>
          <a:xfrm>
            <a:off x="548640" y="4251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Full Application Stack</a:t>
            </a:r>
            <a:endParaRPr lang="en-US" sz="2000" dirty="0"/>
          </a:p>
        </p:txBody>
      </p:sp>
      <p:sp>
        <p:nvSpPr>
          <p:cNvPr id="24" name="Stack tile 1"/>
          <p:cNvSpPr/>
          <p:nvPr/>
        </p:nvSpPr>
        <p:spPr>
          <a:xfrm>
            <a:off x="548640" y="4709160"/>
            <a:ext cx="35204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5" name="Stack icon circle 1"/>
          <p:cNvSpPr/>
          <p:nvPr/>
        </p:nvSpPr>
        <p:spPr>
          <a:xfrm>
            <a:off x="777240" y="518922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6" name="Image 0" descr="Backen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5353812"/>
            <a:ext cx="310896" cy="310896"/>
          </a:xfrm>
          <a:prstGeom prst="rect">
            <a:avLst/>
          </a:prstGeom>
        </p:spPr>
      </p:pic>
      <p:sp>
        <p:nvSpPr>
          <p:cNvPr id="27" name="Stack text 1"/>
          <p:cNvSpPr txBox="1"/>
          <p:nvPr/>
        </p:nvSpPr>
        <p:spPr>
          <a:xfrm>
            <a:off x="1554480" y="4800600"/>
            <a:ext cx="24231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Backend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Python, Flask REST API, Scikit-Learn, LightGBM.</a:t>
            </a:r>
            <a:endParaRPr lang="en-US" sz="1800" dirty="0"/>
          </a:p>
        </p:txBody>
      </p:sp>
      <p:sp>
        <p:nvSpPr>
          <p:cNvPr id="28" name="Stack tile 2"/>
          <p:cNvSpPr/>
          <p:nvPr/>
        </p:nvSpPr>
        <p:spPr>
          <a:xfrm>
            <a:off x="4334256" y="4709160"/>
            <a:ext cx="35204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9" name="Stack icon circle 2"/>
          <p:cNvSpPr/>
          <p:nvPr/>
        </p:nvSpPr>
        <p:spPr>
          <a:xfrm>
            <a:off x="4562856" y="518922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Image 1" descr="Storage &amp; Report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5353812"/>
            <a:ext cx="310896" cy="310896"/>
          </a:xfrm>
          <a:prstGeom prst="rect">
            <a:avLst/>
          </a:prstGeom>
        </p:spPr>
      </p:pic>
      <p:sp>
        <p:nvSpPr>
          <p:cNvPr id="31" name="Stack text 2"/>
          <p:cNvSpPr txBox="1"/>
          <p:nvPr/>
        </p:nvSpPr>
        <p:spPr>
          <a:xfrm>
            <a:off x="5340096" y="4800600"/>
            <a:ext cx="24231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Storage &amp; Reports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SQLite (forecast_history.db, auth.db) and ReportLab PDF engine.</a:t>
            </a:r>
            <a:endParaRPr lang="en-US" sz="1800" dirty="0"/>
          </a:p>
        </p:txBody>
      </p:sp>
      <p:sp>
        <p:nvSpPr>
          <p:cNvPr id="32" name="Stack tile 3"/>
          <p:cNvSpPr/>
          <p:nvPr/>
        </p:nvSpPr>
        <p:spPr>
          <a:xfrm>
            <a:off x="8119872" y="4709160"/>
            <a:ext cx="35204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3" name="Stack icon circle 3"/>
          <p:cNvSpPr/>
          <p:nvPr/>
        </p:nvSpPr>
        <p:spPr>
          <a:xfrm>
            <a:off x="8348472" y="518922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4" name="Image 2" descr="Fronten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5353812"/>
            <a:ext cx="310896" cy="310896"/>
          </a:xfrm>
          <a:prstGeom prst="rect">
            <a:avLst/>
          </a:prstGeom>
        </p:spPr>
      </p:pic>
      <p:sp>
        <p:nvSpPr>
          <p:cNvPr id="35" name="Stack text 3"/>
          <p:cNvSpPr txBox="1"/>
          <p:nvPr/>
        </p:nvSpPr>
        <p:spPr>
          <a:xfrm>
            <a:off x="9125712" y="4800600"/>
            <a:ext cx="24231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Frontend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Responsive SaaS Dashboard with Chart.js time-series visualizations.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 Benchmarking &amp; Performance Comparison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Evaluated on 14,700 Out-of-Sample Future Test Observations</a:t>
            </a:r>
            <a:endParaRPr lang="en-US" sz="1600" dirty="0"/>
          </a:p>
        </p:txBody>
      </p:sp>
      <p:graphicFrame>
        <p:nvGraphicFramePr>
          <p:cNvPr id="6" name="Model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463040"/>
                <a:gridCol w="1143000"/>
                <a:gridCol w="1188720"/>
                <a:gridCol w="1005840"/>
                <a:gridCol w="37764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 Architecture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 Variable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MAE (Units)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RMSE (Units)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R² Score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Operational Role in Code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</a:rPr>
                        <a:t>Naive (Yesterday’s Sales)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Units Sold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119.70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153.42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6393F"/>
                          </a:solidFill>
                        </a:rPr>
                        <a:t>-1.0097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Baseline (Negative R², unusable)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</a:rPr>
                        <a:t>Linear Regression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Units Sold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68.59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87.60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0.3448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Student Baseline (Lowest MAE)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</a:rPr>
                        <a:t>Random Forest (50 Trees)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Units Sold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68.88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88.12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0.3370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</a:rPr>
                        <a:t>Non-linear Bagging (16.8 MB)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</a:rPr>
                        <a:t>LightGBM Regressor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</a:rPr>
                        <a:t>Units Sold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</a:rPr>
                        <a:t>68.70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</a:rPr>
                        <a:t>87.86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</a:rPr>
                        <a:t>0.3408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</a:rPr>
                        <a:t>Production Champion (519 KB)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0EC"/>
                    </a:solidFill>
                  </a:tcPr>
                </a:tc>
              </a:tr>
            </a:tbl>
          </a:graphicData>
        </a:graphic>
      </p:graphicFrame>
      <p:sp>
        <p:nvSpPr>
          <p:cNvPr id="5" name="Takeaway 1"/>
          <p:cNvSpPr/>
          <p:nvPr/>
        </p:nvSpPr>
        <p:spPr>
          <a:xfrm>
            <a:off x="548640" y="4023360"/>
            <a:ext cx="3520440" cy="2331720"/>
          </a:xfrm>
          <a:prstGeom prst="roundRect">
            <a:avLst>
              <a:gd name="adj" fmla="val 3922"/>
            </a:avLst>
          </a:prstGeom>
          <a:solidFill>
            <a:schemeClr val="accent4">
              <a:alpha val="11000"/>
            </a:schemeClr>
          </a:solidFill>
          <a:ln w="9525">
            <a:solidFill>
              <a:schemeClr val="accent4">
                <a:alpha val="40000"/>
              </a:schemeClr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Metric Accuracy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Linear Regression achieved the slightly lowest MAE (68.59 vs 68.70).</a:t>
            </a:r>
            <a:endParaRPr lang="en-US" sz="1800" dirty="0"/>
          </a:p>
        </p:txBody>
      </p:sp>
      <p:sp>
        <p:nvSpPr>
          <p:cNvPr id="6" name="Takeaway 2"/>
          <p:cNvSpPr/>
          <p:nvPr/>
        </p:nvSpPr>
        <p:spPr>
          <a:xfrm>
            <a:off x="4334256" y="4023360"/>
            <a:ext cx="3520440" cy="2331720"/>
          </a:xfrm>
          <a:prstGeom prst="roundRect">
            <a:avLst>
              <a:gd name="adj" fmla="val 3922"/>
            </a:avLst>
          </a:prstGeom>
          <a:solidFill>
            <a:schemeClr val="accent1">
              <a:alpha val="11000"/>
            </a:schemeClr>
          </a:solidFill>
          <a:ln w="9525">
            <a:solidFill>
              <a:schemeClr val="accent1">
                <a:alpha val="40000"/>
              </a:schemeClr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LightGBM is the Champion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Captures non-linear promotional and weather interactions, runs in sub-8ms, and has a compact 519 KB file size for web deployment.</a:t>
            </a:r>
            <a:endParaRPr lang="en-US" sz="1800" dirty="0"/>
          </a:p>
        </p:txBody>
      </p:sp>
      <p:sp>
        <p:nvSpPr>
          <p:cNvPr id="7" name="Takeaway 3"/>
          <p:cNvSpPr/>
          <p:nvPr/>
        </p:nvSpPr>
        <p:spPr>
          <a:xfrm>
            <a:off x="8119872" y="4023360"/>
            <a:ext cx="3520440" cy="2331720"/>
          </a:xfrm>
          <a:prstGeom prst="roundRect">
            <a:avLst>
              <a:gd name="adj" fmla="val 3922"/>
            </a:avLst>
          </a:prstGeom>
          <a:solidFill>
            <a:schemeClr val="accent2">
              <a:alpha val="11000"/>
            </a:schemeClr>
          </a:solidFill>
          <a:ln w="9525">
            <a:solidFill>
              <a:schemeClr val="accent2">
                <a:alpha val="40000"/>
              </a:schemeClr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Independent Execution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Models are evaluated separately (not blended); users can toggle between all three via the UI dropdown.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Application Outputs, Business Impact &amp; Conclusion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Prescriptive Analytics Delivering Measured Retail ROI</a:t>
            </a:r>
            <a:endParaRPr lang="en-US" sz="1600" dirty="0"/>
          </a:p>
        </p:txBody>
      </p:sp>
      <p:sp>
        <p:nvSpPr>
          <p:cNvPr id="4" name="Sample caption"/>
          <p:cNvSpPr txBox="1"/>
          <p:nvPr/>
        </p:nvSpPr>
        <p:spPr>
          <a:xfrm>
            <a:off x="8897112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Sample dashboard output</a:t>
            </a:r>
            <a:endParaRPr lang="en-US" sz="1200" dirty="0"/>
          </a:p>
        </p:txBody>
      </p:sp>
      <p:sp>
        <p:nvSpPr>
          <p:cNvPr id="5" name="Metric card 1"/>
          <p:cNvSpPr/>
          <p:nvPr/>
        </p:nvSpPr>
        <p:spPr>
          <a:xfrm>
            <a:off x="548640" y="14630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accent6">
                <a:alpha val="30000"/>
              </a:schemeClr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PREDICTED DEMAND</a:t>
            </a:r>
            <a:endParaRPr lang="en-US" sz="12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Units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95% CI: [120–186]</a:t>
            </a:r>
            <a:endParaRPr lang="en-US" sz="1200" dirty="0"/>
          </a:p>
        </p:txBody>
      </p:sp>
      <p:sp>
        <p:nvSpPr>
          <p:cNvPr id="6" name="Metric card 2"/>
          <p:cNvSpPr/>
          <p:nvPr/>
        </p:nvSpPr>
        <p:spPr>
          <a:xfrm>
            <a:off x="3392424" y="14630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accent6">
                <a:alpha val="30000"/>
              </a:schemeClr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CURRENT STOCK</a:t>
            </a:r>
            <a:endParaRPr lang="en-US" sz="12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Units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1.2 Days Supply</a:t>
            </a:r>
            <a:endParaRPr lang="en-US" sz="1200" dirty="0"/>
          </a:p>
        </p:txBody>
      </p:sp>
      <p:sp>
        <p:nvSpPr>
          <p:cNvPr id="7" name="Metric card 3"/>
          <p:cNvSpPr/>
          <p:nvPr/>
        </p:nvSpPr>
        <p:spPr>
          <a:xfrm>
            <a:off x="6236208" y="14630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accent6">
                <a:alpha val="30000"/>
              </a:schemeClr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REORDER POINT</a:t>
            </a:r>
            <a:endParaRPr lang="en-US" sz="12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485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Units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Safety Stock: 35</a:t>
            </a:r>
            <a:endParaRPr lang="en-US" sz="1200" dirty="0"/>
          </a:p>
        </p:txBody>
      </p:sp>
      <p:sp>
        <p:nvSpPr>
          <p:cNvPr id="8" name="Metric card 4"/>
          <p:cNvSpPr/>
          <p:nvPr/>
        </p:nvSpPr>
        <p:spPr>
          <a:xfrm>
            <a:off x="9079992" y="14630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accent6">
                <a:alpha val="30000"/>
              </a:schemeClr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STOCKOUT RISK</a:t>
            </a:r>
            <a:endParaRPr lang="en-US" sz="12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18.5%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Tier: Elevated</a:t>
            </a:r>
            <a:endParaRPr lang="en-US" sz="1200" dirty="0"/>
          </a:p>
        </p:txBody>
      </p:sp>
      <p:sp>
        <p:nvSpPr>
          <p:cNvPr id="9" name="Delivers card"/>
          <p:cNvSpPr/>
          <p:nvPr/>
        </p:nvSpPr>
        <p:spPr>
          <a:xfrm>
            <a:off x="548640" y="2834640"/>
            <a:ext cx="6858000" cy="2697480"/>
          </a:xfrm>
          <a:prstGeom prst="roundRect">
            <a:avLst>
              <a:gd name="adj" fmla="val 3390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the Application Delivers</a:t>
            </a:r>
            <a:endParaRPr lang="en-US" sz="18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Demand &amp; Inventory KPI Cards: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forecast, 95% Confidence Bounds, Current Stock, Reorder Point, and Stockout Risk %.</a:t>
            </a:r>
            <a:endParaRPr lang="en-US" sz="18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Interactive What-If Simulator: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Real-time sliders to simulate pricing, discount, and competitor impacts on demand and revenue.</a:t>
            </a:r>
            <a:endParaRPr lang="en-US" sz="18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Store Inventory Matrix &amp; Alerts: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Color-coded status (Critical, Reorder Needed, Optimal, Overstocked) across all 100 SKUs.</a:t>
            </a:r>
            <a:endParaRPr lang="en-US" sz="18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One-Click PDF Reports: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Generates single-SKU, category, and executive audit PDFs.</a:t>
            </a:r>
            <a:endParaRPr lang="en-US" sz="1800" dirty="0"/>
          </a:p>
        </p:txBody>
      </p:sp>
      <p:sp>
        <p:nvSpPr>
          <p:cNvPr id="10" name="Benefits card"/>
          <p:cNvSpPr/>
          <p:nvPr/>
        </p:nvSpPr>
        <p:spPr>
          <a:xfrm>
            <a:off x="7680960" y="2834640"/>
            <a:ext cx="3959352" cy="2697480"/>
          </a:xfrm>
          <a:prstGeom prst="roundRect">
            <a:avLst>
              <a:gd name="adj" fmla="val 3390"/>
            </a:avLst>
          </a:prstGeom>
          <a:solidFill>
            <a:schemeClr val="accent2">
              <a:alpha val="11000"/>
            </a:schemeClr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Measurable Business Benefits</a:t>
            </a:r>
            <a:endParaRPr lang="en-US" sz="18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Reduces stockout incidents through automated safety buffers.</a:t>
            </a:r>
            <a:endParaRPr lang="en-US" sz="18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Cuts excess holding costs by calculating Economic Order Quantity (EOQ).</a:t>
            </a:r>
            <a:endParaRPr lang="en-US" sz="18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Replaces guesswork with transparent, reproducible machine learning.</a:t>
            </a:r>
            <a:endParaRPr lang="en-US" sz="1800" dirty="0"/>
          </a:p>
        </p:txBody>
      </p:sp>
      <p:sp>
        <p:nvSpPr>
          <p:cNvPr id="11" name="Conclusion band"/>
          <p:cNvSpPr/>
          <p:nvPr/>
        </p:nvSpPr>
        <p:spPr>
          <a:xfrm>
            <a:off x="548640" y="5669280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Conclusion: </a:t>
            </a:r>
            <a:pPr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“StockSense AI proves that machine learning delivers its highest value when paired with operations research to automate profitable supply chain decisions.”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circle"/>
          <p:cNvSpPr/>
          <p:nvPr/>
        </p:nvSpPr>
        <p:spPr>
          <a:xfrm>
            <a:off x="5367528" y="1005840"/>
            <a:ext cx="1463040" cy="14630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" name="Image 0" descr="Forecast char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444752"/>
            <a:ext cx="585216" cy="5852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StockSense AI: Intelligent Retail Demand Forecasting</a:t>
            </a:r>
            <a:endParaRPr lang="en-US" sz="2200" dirty="0"/>
          </a:p>
        </p:txBody>
      </p:sp>
      <p:sp>
        <p:nvSpPr>
          <p:cNvPr id="6" name="Presenter"/>
          <p:cNvSpPr txBox="1"/>
          <p:nvPr/>
        </p:nvSpPr>
        <p:spPr>
          <a:xfrm>
            <a:off x="3355848" y="4846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Jaswin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Roll No: 24CB019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Sense">
  <a:themeElements>
    <a:clrScheme name="StockSense">
      <a:dk1>
        <a:srgbClr val="13293D"/>
      </a:dk1>
      <a:lt1>
        <a:srgbClr val="FFFFFF"/>
      </a:lt1>
      <a:dk2>
        <a:srgbClr val="0B2545"/>
      </a:dk2>
      <a:lt2>
        <a:srgbClr val="EEF4F7"/>
      </a:lt2>
      <a:accent1>
        <a:srgbClr val="0A8F80"/>
      </a:accent1>
      <a:accent2>
        <a:srgbClr val="C77700"/>
      </a:accent2>
      <a:accent3>
        <a:srgbClr val="D6393F"/>
      </a:accent3>
      <a:accent4>
        <a:srgbClr val="2F6FDE"/>
      </a:accent4>
      <a:accent5>
        <a:srgbClr val="0A6C74"/>
      </a:accent5>
      <a:accent6>
        <a:srgbClr val="5B6B7B"/>
      </a:accent6>
      <a:hlink>
        <a:srgbClr val="2F6FDE"/>
      </a:hlink>
      <a:folHlink>
        <a:srgbClr val="5B6B7B"/>
      </a:folHlink>
    </a:clrScheme>
    <a:fontScheme name="Stock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StockSense AI: Intelligent Retail Demand Forecasting</dc:title>
  <dc:subject>PptxGenJS Presentation</dc:subject>
  <dc:creator>Jaswin</dc:creator>
  <cp:lastModifiedBy>Jaswin</cp:lastModifiedBy>
  <cp:revision>1</cp:revision>
  <dcterms:created xsi:type="dcterms:W3CDTF">2026-10-27T16:29:28Z</dcterms:created>
  <dcterms:modified xsi:type="dcterms:W3CDTF">2026-10-27T16:29:28Z</dcterms:modified>
</cp:coreProperties>
</file>